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SlackOps DevOps Agent를 소개합니다. AI는 진단하고 제안하며, 변경은 항상 사람이 승인합니다.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소규모 팀에서 혼자 온콜이면 새벽 알림은 내 몫입니다. 탐색과 확인이 반복되고, 프로덕션 접근은 늘 불안합니다.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 요청이 AI 진단을 거쳐 사람 승인으로 이어집니다. 대상 사용자와 MVP 범위는 별도로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조사는 자동으로 흐르고, 변경은 승인 이후에만 실행됩니다.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 입력 경로가 하나의 작업 큐로 모이고, 실제 쓰기는 사람 승인에 묶입니다. 세부 흐름은 대본에서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분리, 단기 자격, egress allowlist. 세 겹의 경계로 AI가 속아도 실제로 할 수 있는 게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 요청이 CloudWatch 증거를 거쳐 진단과 PR 제안으로 이어집니다. 조사 1회당 약 $0.15입니다.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승인은 의도가 아니라 검증된 상태에 묶입니다. Plan-Then-Execute로 TOCTOU를 방지합니다.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개의 입력 경로가 DynamoDB 단일 테이블을 공유합니다. 조건부 쓰기로 원자적 잡 클레임을 구현합니다.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data, untrusted content, external communication이 동시에 주어지면 프롬프트 인젝션이 실제 피해로 이어집니다. 우리는 세 다리 중 하나를 항상 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탐지는 카테고리별로 켜고 끌 수 있고, 모든 실행은 비용·토큰·성공률까지 투명하게 기록됩니다.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요청은 거부되고, 승인과 실행 사이 상태가 바뀌면 plan binding이 재검증을 막습니다.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AWS 환경에서 진행하는 라이브 데모입니다. 녹화 영상 없이 현장에서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위험을 실제 구현으로 줄이고, 그 결과를 증거로 보여줍니다. 세부 구현과 검증 범위는 대본에서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조사하고 제안합니다. 사람은 diff를 검토하고 경계를 지킵니다.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3165613"/>
            <a:ext cx="76136" cy="761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1352196" y="3052468"/>
            <a:ext cx="4519508" cy="34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AWSKRUG DEVOPS · 2026.07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2862" y="3774052"/>
            <a:ext cx="16482248" cy="1670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0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SlackOps DevOps Agent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2862" y="5691973"/>
            <a:ext cx="9429685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16"/>
              </a:lnSpc>
              <a:buNone/>
            </a:pPr>
            <a:r>
              <a:rPr lang="en-US" sz="3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진단하고, 변경은 사람이 승인합니다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2862" y="6682399"/>
            <a:ext cx="3220229" cy="552030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1896" y="6807133"/>
            <a:ext cx="2838767" cy="34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by default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96288" y="6682399"/>
            <a:ext cx="3083118" cy="552030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5323" y="6807133"/>
            <a:ext cx="2697543" cy="34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approval gate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2862" y="8945298"/>
            <a:ext cx="16002183" cy="1043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2862" y="9146154"/>
            <a:ext cx="3212452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발표자 · 최병민/현대오토에버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1563161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문제 인식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3084096"/>
            <a:ext cx="6373053" cy="122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spc="-78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새벽 2시, 알림이 울립니다.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 rot="2700000">
            <a:off x="1142842" y="4708701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1390346" y="4615466"/>
            <a:ext cx="2601274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콘솔을 오가며 로그를 확인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rot="2700000">
            <a:off x="1142842" y="514269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390346" y="5049460"/>
            <a:ext cx="2096621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수동으로 원인을 분석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2700000">
            <a:off x="1142842" y="5576689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1390346" y="5483454"/>
            <a:ext cx="1879086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반복되는 온콜 대응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2862" y="5993747"/>
            <a:ext cx="6806174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대신할 수 있을까?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142842" y="6639012"/>
            <a:ext cx="95250" cy="95250"/>
          </a:xfrm>
          <a:prstGeom prst="roundRect">
            <a:avLst>
              <a:gd name="adj" fmla="val 20000"/>
            </a:avLst>
          </a:prstGeom>
          <a:solidFill>
            <a:srgbClr val="D13212"/>
          </a:solidFill>
          <a:ln/>
        </p:spPr>
      </p:sp>
      <p:sp>
        <p:nvSpPr>
          <p:cNvPr id="13" name="Text 11"/>
          <p:cNvSpPr/>
          <p:nvPr/>
        </p:nvSpPr>
        <p:spPr>
          <a:xfrm>
            <a:off x="1390346" y="6545777"/>
            <a:ext cx="1374434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변경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142842" y="7073007"/>
            <a:ext cx="95250" cy="95250"/>
          </a:xfrm>
          <a:prstGeom prst="roundRect">
            <a:avLst>
              <a:gd name="adj" fmla="val 20000"/>
            </a:avLst>
          </a:prstGeom>
          <a:solidFill>
            <a:srgbClr val="D13212"/>
          </a:solidFill>
          <a:ln/>
        </p:spPr>
      </p:sp>
      <p:sp>
        <p:nvSpPr>
          <p:cNvPr id="15" name="Text 13"/>
          <p:cNvSpPr/>
          <p:nvPr/>
        </p:nvSpPr>
        <p:spPr>
          <a:xfrm>
            <a:off x="1390346" y="6979771"/>
            <a:ext cx="1444375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 증명 유출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 rot="2700000">
            <a:off x="1142842" y="75070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D13212"/>
          </a:solidFill>
          <a:ln/>
        </p:spPr>
      </p:sp>
      <p:sp>
        <p:nvSpPr>
          <p:cNvPr id="17" name="Text 15"/>
          <p:cNvSpPr/>
          <p:nvPr/>
        </p:nvSpPr>
        <p:spPr>
          <a:xfrm>
            <a:off x="1390346" y="7413765"/>
            <a:ext cx="1591969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63573" y="2056173"/>
            <a:ext cx="9281471" cy="6667399"/>
          </a:xfrm>
          <a:prstGeom prst="roundRect">
            <a:avLst>
              <a:gd name="adj" fmla="val 2286"/>
            </a:avLst>
          </a:prstGeom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7199" b="-37199"/>
          <a:stretch/>
        </p:blipFill>
        <p:spPr>
          <a:xfrm>
            <a:off x="7874007" y="2066607"/>
            <a:ext cx="9260603" cy="66465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300604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해결 구조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4136475"/>
            <a:ext cx="4769206" cy="1823525"/>
          </a:xfrm>
          <a:prstGeom prst="roundRect">
            <a:avLst>
              <a:gd name="adj" fmla="val 8357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1059" y="4527754"/>
            <a:ext cx="455281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ASSISTANT DM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1059" y="4963541"/>
            <a:ext cx="4552812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요청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178626" y="4844690"/>
            <a:ext cx="390365" cy="44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759350" y="4146909"/>
            <a:ext cx="4769206" cy="1802656"/>
          </a:xfrm>
          <a:prstGeom prst="roundRect">
            <a:avLst>
              <a:gd name="adj" fmla="val 8454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6856070" y="4527754"/>
            <a:ext cx="4575767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분석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6070" y="4963541"/>
            <a:ext cx="4575767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진단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1795115" y="4844690"/>
            <a:ext cx="390365" cy="44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2375839" y="4136475"/>
            <a:ext cx="4769206" cy="1823525"/>
          </a:xfrm>
          <a:prstGeom prst="roundRect">
            <a:avLst>
              <a:gd name="adj" fmla="val 8357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84035" y="4527754"/>
            <a:ext cx="455281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승인 카드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84035" y="4963541"/>
            <a:ext cx="4552812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승인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4440205" y="6493280"/>
            <a:ext cx="2026175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4630705" y="6588530"/>
            <a:ext cx="1721375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logs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0666" y="6493280"/>
            <a:ext cx="2574618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6771166" y="6588530"/>
            <a:ext cx="2270856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diagnose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69570" y="6493280"/>
            <a:ext cx="2711729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9460070" y="6588530"/>
            <a:ext cx="2412081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tf-review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95585" y="6493280"/>
            <a:ext cx="1751953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12286085" y="6588530"/>
            <a:ext cx="1447153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pr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465593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AUTONOMY LOOP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3958605"/>
            <a:ext cx="17602401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탐지와 진단은 자동, 변경은 승인 후 실행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2862" y="4933706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256" y="5191790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27792" y="5207439"/>
            <a:ext cx="283904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87769" y="4933706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0163" y="5191790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72700" y="5207439"/>
            <a:ext cx="283904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32677" y="4933706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5071" y="5191790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217608" y="5207439"/>
            <a:ext cx="283904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77585" y="4933706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4E0"/>
          </a:solidFill>
          <a:ln w="10434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9979" y="5191790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62515" y="5207439"/>
            <a:ext cx="284067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722654" y="4933706"/>
            <a:ext cx="3422390" cy="818752"/>
          </a:xfrm>
          <a:prstGeom prst="roundRect">
            <a:avLst>
              <a:gd name="adj" fmla="val 16287"/>
            </a:avLst>
          </a:prstGeom>
          <a:solidFill>
            <a:srgbClr val="EAF7EF"/>
          </a:solidFill>
          <a:ln w="10434">
            <a:solidFill>
              <a:srgbClr val="1D83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53203" y="5191790"/>
            <a:ext cx="3161293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&amp; VERIFY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42753" y="6362038"/>
            <a:ext cx="17602401" cy="497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탐지와 진단은 자동, 변경은 승인 후 실행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838153"/>
            <a:ext cx="2420552" cy="433994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4746" y="924787"/>
            <a:ext cx="2132983" cy="298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INPUTS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77700" y="838153"/>
            <a:ext cx="2831884" cy="433994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59584" y="924787"/>
            <a:ext cx="2553072" cy="298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SINGLE-TABLE QUEUE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3870" y="838153"/>
            <a:ext cx="2694773" cy="433994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5754" y="924787"/>
            <a:ext cx="2411848" cy="298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HUMAN-BOUND WRITE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2862" y="1576856"/>
            <a:ext cx="16002183" cy="7871888"/>
          </a:xfrm>
          <a:prstGeom prst="roundRect">
            <a:avLst>
              <a:gd name="adj" fmla="val 1936"/>
            </a:avLst>
          </a:prstGeom>
          <a:solidFill>
            <a:srgbClr val="232F3E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7852" r="-17852" t="0" b="0"/>
          <a:stretch/>
        </p:blipFill>
        <p:spPr>
          <a:xfrm>
            <a:off x="1153296" y="1587290"/>
            <a:ext cx="15981314" cy="78510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2522610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런타임 보안 경계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3244195"/>
            <a:ext cx="5181680" cy="2175187"/>
          </a:xfrm>
          <a:prstGeom prst="roundRect">
            <a:avLst>
              <a:gd name="adj" fmla="val 7006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8930" y="3559337"/>
            <a:ext cx="304709" cy="3047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930" y="4066696"/>
            <a:ext cx="5048498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SEPARATION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38930" y="4464497"/>
            <a:ext cx="5048498" cy="35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· Runtime · MCP · Audit 역할 분리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53113" y="3244195"/>
            <a:ext cx="5181680" cy="2175187"/>
          </a:xfrm>
          <a:prstGeom prst="roundRect">
            <a:avLst>
              <a:gd name="adj" fmla="val 7006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9181" y="3559337"/>
            <a:ext cx="304709" cy="3047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49181" y="4066696"/>
            <a:ext cx="5048498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SHORT-LIVED CREDENTIALS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849181" y="4464497"/>
            <a:ext cx="5048498" cy="35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만료 · 45분 시점 갱신 · IMDS 차단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1963365" y="3244195"/>
            <a:ext cx="5181680" cy="2175187"/>
          </a:xfrm>
          <a:prstGeom prst="roundRect">
            <a:avLst>
              <a:gd name="adj" fmla="val 7006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59433" y="3559337"/>
            <a:ext cx="304709" cy="3047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9433" y="4066696"/>
            <a:ext cx="5048498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EGRESS ALLOWLIST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259433" y="4464497"/>
            <a:ext cx="4727230" cy="677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API · Anthropic API · GitHub API · AWS API · Terraform Registry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142862" y="5838377"/>
            <a:ext cx="16002183" cy="1925746"/>
          </a:xfrm>
          <a:prstGeom prst="roundRect">
            <a:avLst>
              <a:gd name="adj" fmla="val 5935"/>
            </a:avLst>
          </a:prstGeom>
          <a:solidFill>
            <a:srgbClr val="FFF8EC"/>
          </a:solidFill>
          <a:ln w="10434">
            <a:solidFill>
              <a:srgbClr val="FF9900">
                <a:alpha val="35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419855" y="6058308"/>
            <a:ext cx="15911642" cy="1523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22"/>
              </a:lnSpc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쓰기 권한은 두지 않는다. 런타임 권한은 분리된 단기 자격 증명으로 부여하고, 외부 통신은 허용 목록으로 제한한다.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1142862" y="9250495"/>
            <a:ext cx="6334339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ASI03 · LLM02 · Zero Standing Privilege / JIT credentials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332885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요청에서 제안까지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3940183"/>
            <a:ext cx="4800508" cy="527249"/>
          </a:xfrm>
          <a:prstGeom prst="roundRect">
            <a:avLst>
              <a:gd name="adj" fmla="val 18065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1333362" y="4073533"/>
            <a:ext cx="4563523" cy="298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READ ADAPTER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2862" y="4600630"/>
            <a:ext cx="4800508" cy="527249"/>
          </a:xfrm>
          <a:prstGeom prst="roundRect">
            <a:avLst>
              <a:gd name="adj" fmla="val 18065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1333362" y="4733980"/>
            <a:ext cx="4563523" cy="298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TOOLS = 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2862" y="5261077"/>
            <a:ext cx="4800508" cy="527249"/>
          </a:xfrm>
          <a:prstGeom prst="roundRect">
            <a:avLst>
              <a:gd name="adj" fmla="val 1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333362" y="5394427"/>
            <a:ext cx="4563523" cy="298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$0.15 / RUN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2862" y="6131184"/>
            <a:ext cx="4944523" cy="860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7744"/>
              </a:lnSpc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요청 → CloudWatch 증거 → 진단 → PR 제안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76651" y="1143025"/>
            <a:ext cx="10668394" cy="28574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2157" b="12157"/>
          <a:stretch/>
        </p:blipFill>
        <p:spPr>
          <a:xfrm>
            <a:off x="6487085" y="1153459"/>
            <a:ext cx="10647526" cy="283661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76651" y="4229077"/>
            <a:ext cx="10668394" cy="491479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26941" r="-26941" t="0" b="0"/>
          <a:stretch/>
        </p:blipFill>
        <p:spPr>
          <a:xfrm>
            <a:off x="6487085" y="4239511"/>
            <a:ext cx="10647526" cy="48939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559337"/>
            <a:ext cx="598481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승인 게이트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4166635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5604" y="4329470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10837" y="4166635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33580" y="4329470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2862" y="4848114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4E0"/>
          </a:solidFill>
          <a:ln w="10434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5604" y="5010948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10837" y="4848114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3580" y="5010948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2862" y="5739089"/>
            <a:ext cx="5984813" cy="533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22"/>
              </a:lnSpc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승인한 내용 그대로만 실행한다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42862" y="6424806"/>
            <a:ext cx="598481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Plan-Then-Execute · TOCTOU defense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16882" y="1143025"/>
            <a:ext cx="10028162" cy="43813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-82606" r="-82606" t="0" b="0"/>
          <a:stretch/>
        </p:blipFill>
        <p:spPr>
          <a:xfrm>
            <a:off x="7127316" y="1153459"/>
            <a:ext cx="10007295" cy="436048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116882" y="5714798"/>
            <a:ext cx="10028162" cy="3428911"/>
          </a:xfrm>
          <a:prstGeom prst="roundRect">
            <a:avLst>
              <a:gd name="adj" fmla="val 4445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4614"/>
          <a:stretch/>
        </p:blipFill>
        <p:spPr>
          <a:xfrm>
            <a:off x="7127316" y="5725231"/>
            <a:ext cx="10007295" cy="34080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586564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하나의 작업 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4193862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2862" y="4648724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CLAIM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2862" y="5103587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TELEMETRY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2862" y="5749035"/>
            <a:ext cx="972818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6646" y="5816619"/>
            <a:ext cx="761450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1816" y="5749035"/>
            <a:ext cx="1109929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5601" y="5816619"/>
            <a:ext cx="898561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77882" y="5749035"/>
            <a:ext cx="972818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1666" y="5816619"/>
            <a:ext cx="761450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2862" y="6262751"/>
            <a:ext cx="2892369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6646" y="6330336"/>
            <a:ext cx="2691572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Event-driven Lambda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76651" y="1143025"/>
            <a:ext cx="10668394" cy="8000847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117" b="-5117"/>
          <a:stretch/>
        </p:blipFill>
        <p:spPr>
          <a:xfrm>
            <a:off x="6487085" y="1153459"/>
            <a:ext cx="10647526" cy="797997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2601355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LETHAL TRIFECTA &amp; 최소 권한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3094367"/>
            <a:ext cx="17602401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위험 요소를 한 에이전트에 결합하지 않는다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2862" y="4107618"/>
            <a:ext cx="5181680" cy="2116332"/>
          </a:xfrm>
          <a:prstGeom prst="roundRect">
            <a:avLst>
              <a:gd name="adj" fmla="val 7201"/>
            </a:avLst>
          </a:prstGeom>
          <a:solidFill>
            <a:srgbClr val="FDEDEA"/>
          </a:solidFill>
          <a:ln w="10434">
            <a:solidFill>
              <a:srgbClr val="D13212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470" y="4403686"/>
            <a:ext cx="5090462" cy="44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50439" y="4924902"/>
            <a:ext cx="4766524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COMMUNICATION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470" y="5625292"/>
            <a:ext cx="509046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Squid egress allowlist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53113" y="4107618"/>
            <a:ext cx="5181680" cy="2116332"/>
          </a:xfrm>
          <a:prstGeom prst="roundRect">
            <a:avLst>
              <a:gd name="adj" fmla="val 7201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8722" y="4403686"/>
            <a:ext cx="5090462" cy="44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98722" y="4924902"/>
            <a:ext cx="509046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DATA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98722" y="5322703"/>
            <a:ext cx="509046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read adapter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63365" y="4107618"/>
            <a:ext cx="5181680" cy="2116332"/>
          </a:xfrm>
          <a:prstGeom prst="roundRect">
            <a:avLst>
              <a:gd name="adj" fmla="val 7201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08974" y="4403686"/>
            <a:ext cx="5090462" cy="44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008974" y="4924902"/>
            <a:ext cx="509046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CONTENT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008974" y="5322703"/>
            <a:ext cx="509046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&lt;untrusted_data&gt; isolation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2862" y="6566808"/>
            <a:ext cx="2047369" cy="472144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3796" y="6672492"/>
            <a:ext cx="1721701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TOOLS = 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23429" y="6566808"/>
            <a:ext cx="2458701" cy="472144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4363" y="6672492"/>
            <a:ext cx="2133033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SHORT-LIVED STS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15328" y="6566808"/>
            <a:ext cx="4241305" cy="472144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6262" y="6672492"/>
            <a:ext cx="3966676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STANDING WRITE CREDENTIAL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2862" y="7305511"/>
            <a:ext cx="16002183" cy="10434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24" name="Text 22"/>
          <p:cNvSpPr/>
          <p:nvPr/>
        </p:nvSpPr>
        <p:spPr>
          <a:xfrm>
            <a:off x="1142862" y="7487293"/>
            <a:ext cx="3519117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LLM01 · LLM02 · LLM06 · ASI03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86554" y="7487293"/>
            <a:ext cx="6334339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Simon Willison, "The lethal trifecta for AI agents", 2025-06-16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968905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DETECTIONS &amp; TELEMETRY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1500067"/>
            <a:ext cx="5207112" cy="1256822"/>
          </a:xfrm>
          <a:prstGeom prst="roundRect">
            <a:avLst>
              <a:gd name="adj" fmla="val 10610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0943" y="1719999"/>
            <a:ext cx="516004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0943" y="2098724"/>
            <a:ext cx="5160045" cy="4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40397" y="1500067"/>
            <a:ext cx="5207112" cy="1256822"/>
          </a:xfrm>
          <a:prstGeom prst="roundRect">
            <a:avLst>
              <a:gd name="adj" fmla="val 10610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8478" y="1719999"/>
            <a:ext cx="516004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98478" y="2098724"/>
            <a:ext cx="5160045" cy="4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92,070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937932" y="1500067"/>
            <a:ext cx="5207112" cy="1256822"/>
          </a:xfrm>
          <a:prstGeom prst="roundRect">
            <a:avLst>
              <a:gd name="adj" fmla="val 10610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96014" y="1719999"/>
            <a:ext cx="516004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6014" y="2098724"/>
            <a:ext cx="5160045" cy="4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$4.76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2862" y="3023448"/>
            <a:ext cx="7905799" cy="6065970"/>
          </a:xfrm>
          <a:prstGeom prst="roundRect">
            <a:avLst>
              <a:gd name="adj" fmla="val 2512"/>
            </a:avLst>
          </a:prstGeom>
          <a:solidFill>
            <a:srgbClr val="0B0F14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96" y="3033882"/>
            <a:ext cx="7884930" cy="604510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239083" y="3023448"/>
            <a:ext cx="7905962" cy="5726862"/>
          </a:xfrm>
          <a:prstGeom prst="roundRect">
            <a:avLst>
              <a:gd name="adj" fmla="val 2661"/>
            </a:avLst>
          </a:prstGeom>
          <a:solidFill>
            <a:srgbClr val="0B0F14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517" y="3033882"/>
            <a:ext cx="7885093" cy="570599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2069542"/>
            <a:ext cx="2595812" cy="472144"/>
          </a:xfrm>
          <a:prstGeom prst="roundRect">
            <a:avLst>
              <a:gd name="adj" fmla="val 50000"/>
            </a:avLst>
          </a:prstGeom>
          <a:solidFill>
            <a:srgbClr val="FDEDEA"/>
          </a:solidFill>
          <a:ln w="10434">
            <a:solidFill>
              <a:srgbClr val="D13212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43796" y="2175226"/>
            <a:ext cx="2271818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DENIED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71872" y="2069542"/>
            <a:ext cx="3281529" cy="472144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72806" y="2175226"/>
            <a:ext cx="2978107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BINDING REJECTED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2862" y="2808244"/>
            <a:ext cx="7867812" cy="3619497"/>
          </a:xfrm>
          <a:prstGeom prst="roundRect">
            <a:avLst>
              <a:gd name="adj" fmla="val 4211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51" b="-651"/>
          <a:stretch/>
        </p:blipFill>
        <p:spPr>
          <a:xfrm>
            <a:off x="1153296" y="2818678"/>
            <a:ext cx="7846944" cy="35986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2862" y="6560939"/>
            <a:ext cx="865459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· apply · delete → </a:t>
            </a:r>
            <a:pPr algn="l" indent="0" marL="0">
              <a:buNone/>
            </a:pPr>
            <a:r>
              <a:rPr lang="en-US" sz="1800" b="1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77233" y="2808244"/>
            <a:ext cx="7867812" cy="3619497"/>
          </a:xfrm>
          <a:prstGeom prst="roundRect">
            <a:avLst>
              <a:gd name="adj" fmla="val 4211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5382" b="-25382"/>
          <a:stretch/>
        </p:blipFill>
        <p:spPr>
          <a:xfrm>
            <a:off x="9287667" y="2818678"/>
            <a:ext cx="7846944" cy="35986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77233" y="6560939"/>
            <a:ext cx="865459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hash · tool chain · workspace · PR diff → </a:t>
            </a:r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42862" y="7092101"/>
            <a:ext cx="17602401" cy="497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후 한 글자라도 바뀌면 실행하지 않는다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1142862" y="7741625"/>
            <a:ext cx="2805962" cy="475730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05696" y="7828259"/>
            <a:ext cx="2564472" cy="34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경계 · 실환경 검증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044035" y="7741625"/>
            <a:ext cx="3446845" cy="475730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06869" y="7828259"/>
            <a:ext cx="3224582" cy="34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App · 실제 PR 검증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586091" y="7741625"/>
            <a:ext cx="2837916" cy="475730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48925" y="7828259"/>
            <a:ext cx="2597385" cy="34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 MCP · 미사용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7871399" y="4645464"/>
            <a:ext cx="152273" cy="152273"/>
          </a:xfrm>
          <a:prstGeom prst="ellipse">
            <a:avLst/>
          </a:prstGeom>
          <a:solidFill>
            <a:srgbClr val="D13212"/>
          </a:solidFill>
          <a:ln/>
          <a:effectLst>
            <a:outerShdw sx="100000" sy="100000" kx="0" ky="0" algn="bl" rotWithShape="0" blurRad="152400" dist="50800" dir="16200000">
              <a:srgbClr val="D1321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175945" y="4267716"/>
            <a:ext cx="2464620" cy="945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63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5599859" y="5518343"/>
            <a:ext cx="7796827" cy="538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→ Diagnose → Approve → PR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2392836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→ IMPLEMENTATION → PROOF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2885848"/>
            <a:ext cx="17602401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위험은 구현으로 줄이고, 결과로 증명한다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2862" y="3784812"/>
            <a:ext cx="16002183" cy="4109248"/>
          </a:xfrm>
          <a:prstGeom prst="roundRect">
            <a:avLst>
              <a:gd name="adj" fmla="val 3709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91123" y="3947519"/>
            <a:ext cx="4552633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39134" y="3947519"/>
            <a:ext cx="10434" cy="281721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8" name="Text 6"/>
          <p:cNvSpPr/>
          <p:nvPr/>
        </p:nvSpPr>
        <p:spPr>
          <a:xfrm>
            <a:off x="6940068" y="3947519"/>
            <a:ext cx="4351878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87308" y="3947519"/>
            <a:ext cx="10434" cy="281721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10" name="Text 8"/>
          <p:cNvSpPr/>
          <p:nvPr/>
        </p:nvSpPr>
        <p:spPr>
          <a:xfrm>
            <a:off x="11688242" y="3947519"/>
            <a:ext cx="5717883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D8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증명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19855" y="5055492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855" y="4518461"/>
            <a:ext cx="247647" cy="2476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91123" y="4506723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Prompt Injection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44053" y="4506723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39134" y="4381513"/>
            <a:ext cx="10434" cy="521706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16" name="Text 13"/>
          <p:cNvSpPr/>
          <p:nvPr/>
        </p:nvSpPr>
        <p:spPr>
          <a:xfrm>
            <a:off x="6940068" y="4381513"/>
            <a:ext cx="4062153" cy="55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&lt;untrusted_data&gt; · L0 tools=0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92227" y="4506723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487308" y="4480637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19" name="Text 16"/>
          <p:cNvSpPr/>
          <p:nvPr/>
        </p:nvSpPr>
        <p:spPr>
          <a:xfrm>
            <a:off x="11688242" y="4480637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 명령 거부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419855" y="5892177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9855" y="5355146"/>
            <a:ext cx="247647" cy="2476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91123" y="5343408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Data Disclosure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244053" y="5343408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739134" y="5218199"/>
            <a:ext cx="10434" cy="521706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25" name="Text 21"/>
          <p:cNvSpPr/>
          <p:nvPr/>
        </p:nvSpPr>
        <p:spPr>
          <a:xfrm>
            <a:off x="6940068" y="5218199"/>
            <a:ext cx="4062153" cy="55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adapter · egress allowlist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0992227" y="5343408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1487308" y="5317323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28" name="Text 24"/>
          <p:cNvSpPr/>
          <p:nvPr/>
        </p:nvSpPr>
        <p:spPr>
          <a:xfrm>
            <a:off x="11688242" y="5317323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미허용 통신 차단</a:t>
            </a:r>
            <a:endParaRPr lang="en-US" sz="2100" dirty="0"/>
          </a:p>
        </p:txBody>
      </p:sp>
      <p:sp>
        <p:nvSpPr>
          <p:cNvPr id="29" name="Shape 25"/>
          <p:cNvSpPr/>
          <p:nvPr/>
        </p:nvSpPr>
        <p:spPr>
          <a:xfrm>
            <a:off x="1419855" y="6530615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9855" y="6092708"/>
            <a:ext cx="247647" cy="24764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991123" y="6080970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Output Handling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244053" y="6080970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6739134" y="6086187"/>
            <a:ext cx="10434" cy="260853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34" name="Text 29"/>
          <p:cNvSpPr/>
          <p:nvPr/>
        </p:nvSpPr>
        <p:spPr>
          <a:xfrm>
            <a:off x="6940068" y="6086187"/>
            <a:ext cx="435187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review · plan hash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0992227" y="6080970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11487308" y="6054884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37" name="Text 32"/>
          <p:cNvSpPr/>
          <p:nvPr/>
        </p:nvSpPr>
        <p:spPr>
          <a:xfrm>
            <a:off x="11688242" y="6054884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계획 거부</a:t>
            </a:r>
            <a:endParaRPr lang="en-US" sz="2100" dirty="0"/>
          </a:p>
        </p:txBody>
      </p:sp>
      <p:sp>
        <p:nvSpPr>
          <p:cNvPr id="38" name="Shape 33"/>
          <p:cNvSpPr/>
          <p:nvPr/>
        </p:nvSpPr>
        <p:spPr>
          <a:xfrm>
            <a:off x="1419855" y="7169052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9855" y="6731146"/>
            <a:ext cx="247647" cy="247647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991123" y="6719407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Excessive Agency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6244053" y="6719407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36"/>
          <p:cNvSpPr/>
          <p:nvPr/>
        </p:nvSpPr>
        <p:spPr>
          <a:xfrm>
            <a:off x="6739134" y="6724624"/>
            <a:ext cx="10434" cy="260853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43" name="Text 37"/>
          <p:cNvSpPr/>
          <p:nvPr/>
        </p:nvSpPr>
        <p:spPr>
          <a:xfrm>
            <a:off x="6940068" y="6724624"/>
            <a:ext cx="435187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command_guard · L2 off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10992227" y="6719407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39"/>
          <p:cNvSpPr/>
          <p:nvPr/>
        </p:nvSpPr>
        <p:spPr>
          <a:xfrm>
            <a:off x="11487308" y="6693322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46" name="Text 40"/>
          <p:cNvSpPr/>
          <p:nvPr/>
        </p:nvSpPr>
        <p:spPr>
          <a:xfrm>
            <a:off x="11688242" y="6693322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restart/apply 거부</a:t>
            </a:r>
            <a:endParaRPr lang="en-US" sz="21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19855" y="7369583"/>
            <a:ext cx="247647" cy="247647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991123" y="7357844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ASI03 Identity Abuse</a:t>
            </a:r>
            <a:endParaRPr lang="en-US" sz="1800" dirty="0"/>
          </a:p>
        </p:txBody>
      </p:sp>
      <p:sp>
        <p:nvSpPr>
          <p:cNvPr id="49" name="Text 42"/>
          <p:cNvSpPr/>
          <p:nvPr/>
        </p:nvSpPr>
        <p:spPr>
          <a:xfrm>
            <a:off x="6244053" y="7357844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3"/>
          <p:cNvSpPr/>
          <p:nvPr/>
        </p:nvSpPr>
        <p:spPr>
          <a:xfrm>
            <a:off x="6739134" y="7363062"/>
            <a:ext cx="10434" cy="260853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51" name="Text 44"/>
          <p:cNvSpPr/>
          <p:nvPr/>
        </p:nvSpPr>
        <p:spPr>
          <a:xfrm>
            <a:off x="6940068" y="7363062"/>
            <a:ext cx="435187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split · JIT write token</a:t>
            </a:r>
            <a:endParaRPr lang="en-US" sz="1800" dirty="0"/>
          </a:p>
        </p:txBody>
      </p:sp>
      <p:sp>
        <p:nvSpPr>
          <p:cNvPr id="52" name="Text 45"/>
          <p:cNvSpPr/>
          <p:nvPr/>
        </p:nvSpPr>
        <p:spPr>
          <a:xfrm>
            <a:off x="10992227" y="7357844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3" name="Shape 46"/>
          <p:cNvSpPr/>
          <p:nvPr/>
        </p:nvSpPr>
        <p:spPr>
          <a:xfrm>
            <a:off x="11487308" y="7331759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54" name="Text 47"/>
          <p:cNvSpPr/>
          <p:nvPr/>
        </p:nvSpPr>
        <p:spPr>
          <a:xfrm>
            <a:off x="11688242" y="7331759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발급·회수 감사 기록</a:t>
            </a:r>
            <a:endParaRPr lang="en-US" sz="2100" dirty="0"/>
          </a:p>
        </p:txBody>
      </p:sp>
      <p:sp>
        <p:nvSpPr>
          <p:cNvPr id="55" name="Text 48"/>
          <p:cNvSpPr/>
          <p:nvPr/>
        </p:nvSpPr>
        <p:spPr>
          <a:xfrm>
            <a:off x="1142862" y="9250495"/>
            <a:ext cx="5831660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LLM Top 10 2025 · Agentic Security Initiative Top 10</a:t>
            </a:r>
            <a:endParaRPr lang="en-US" sz="1200" dirty="0"/>
          </a:p>
        </p:txBody>
      </p:sp>
      <p:sp>
        <p:nvSpPr>
          <p:cNvPr id="56" name="Text 49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2009545"/>
            <a:ext cx="1714456" cy="171445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762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6060" y="2142743"/>
            <a:ext cx="1448060" cy="1448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2862" y="4180004"/>
            <a:ext cx="76136" cy="761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/>
          <p:nvPr/>
        </p:nvSpPr>
        <p:spPr>
          <a:xfrm>
            <a:off x="1333284" y="4066859"/>
            <a:ext cx="2270136" cy="34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 AGENT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2862" y="4674157"/>
            <a:ext cx="13411669" cy="51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조사하고 제안합니다.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42862" y="5302650"/>
            <a:ext cx="13411669" cy="51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사람은 Diff를 검토하고 결정합니다.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42862" y="5931142"/>
            <a:ext cx="12558200" cy="990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자율성은 에이전트에게, </a:t>
            </a:r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통제권은 사람에게.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142862" y="7188290"/>
            <a:ext cx="13411669" cy="35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AI 에이전트를 프로덕션에서 안전하게 운영하는 방식입니다.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42862" y="7736734"/>
            <a:ext cx="609596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42862" y="7974761"/>
            <a:ext cx="1341166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AWSKRUG DevOps 소모임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4097142" y="1238236"/>
            <a:ext cx="3047903" cy="7238994"/>
          </a:xfrm>
          <a:prstGeom prst="roundRect">
            <a:avLst>
              <a:gd name="adj" fmla="val 6250"/>
            </a:avLst>
          </a:prstGeom>
          <a:ln/>
          <a:effectLst>
            <a:outerShdw sx="100000" sy="100000" kx="0" ky="0" algn="bl" rotWithShape="0" blurRad="457200" dist="762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5630" r="5630" t="0" b="0"/>
          <a:stretch/>
        </p:blipFill>
        <p:spPr>
          <a:xfrm>
            <a:off x="14097142" y="1238236"/>
            <a:ext cx="3047903" cy="7238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2026-07-17T12:38:46Z</dcterms:created>
  <dcterms:modified xsi:type="dcterms:W3CDTF">2026-07-17T12:38:46Z</dcterms:modified>
</cp:coreProperties>
</file>